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457200"/>
            <a:ext cx="6400800" cy="6400800"/>
          </a:xfrm>
          <a:prstGeom prst="ellipse">
            <a:avLst/>
          </a:prstGeom>
          <a:solidFill>
            <a:srgbClr val="8B5CF6">
              <a:lumMod val="15000"/>
              <a:lumOff val="85000"/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1718A"/>
                </a:solidFill>
                <a:latin typeface="Outfit"/>
              </a:defRPr>
            </a:pPr>
            <a:r>
              <a:t>LIVE VIBE CODING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8FC"/>
                </a:solidFill>
                <a:latin typeface="Noto Sans JP"/>
              </a:defRPr>
            </a:pPr>
            <a:r>
              <a:t>プレゼンテーションタイトル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1A1B5"/>
                </a:solidFill>
                <a:latin typeface="Noto Sans JP"/>
              </a:defRPr>
            </a:pPr>
            <a:r>
              <a:t>サブタイトルをここに入力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8A"/>
                </a:solidFill>
                <a:latin typeface="Outfit"/>
              </a:defRPr>
            </a:pPr>
            <a:r>
              <a:t>2026.02.18  |  発表者名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7200"/>
            <a:ext cx="4063898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3898" y="6807200"/>
            <a:ext cx="4063898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7796" y="6807200"/>
            <a:ext cx="4063898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76200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Outfit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8FC"/>
                </a:solidFill>
                <a:latin typeface="Noto Sans JP"/>
              </a:defRPr>
            </a:pPr>
            <a:r>
              <a:t>セクションタイトル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B5"/>
                </a:solidFill>
                <a:latin typeface="Noto Sans JP"/>
              </a:defRPr>
            </a:pPr>
            <a:r>
              <a:t>セクションの概要をここに記載します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4063898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807200"/>
            <a:ext cx="4063898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7796" y="6807200"/>
            <a:ext cx="4063898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8FC"/>
                </a:solidFill>
                <a:latin typeface="Noto Sans JP"/>
              </a:defRPr>
            </a:pPr>
            <a:r>
              <a:t>スライドタイトル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8288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F8F8FC"/>
                </a:solidFill>
                <a:latin typeface="Noto Sans JP"/>
              </a:defRPr>
            </a:pPr>
            <a:r>
              <a:t>本文テキストをここに入力します。</a:t>
            </a:r>
          </a:p>
          <a:p>
            <a:pPr>
              <a:spcAft>
                <a:spcPts val="600"/>
              </a:spcAft>
              <a:defRPr sz="1600">
                <a:solidFill>
                  <a:srgbClr val="D4D4DE"/>
                </a:solidFill>
                <a:latin typeface="Noto Sans JP"/>
              </a:defRPr>
            </a:pPr>
            <a:r>
              <a:t>・箇条書き項目 1</a:t>
            </a:r>
          </a:p>
          <a:p>
            <a:pPr>
              <a:spcAft>
                <a:spcPts val="600"/>
              </a:spcAft>
              <a:defRPr sz="1600">
                <a:solidFill>
                  <a:srgbClr val="D4D4DE"/>
                </a:solidFill>
                <a:latin typeface="Noto Sans JP"/>
              </a:defRPr>
            </a:pPr>
            <a:r>
              <a:t>・箇条書き項目 2</a:t>
            </a:r>
          </a:p>
          <a:p>
            <a:pPr>
              <a:defRPr sz="1600">
                <a:solidFill>
                  <a:srgbClr val="D4D4DE"/>
                </a:solidFill>
                <a:latin typeface="Noto Sans JP"/>
              </a:defRPr>
            </a:pPr>
            <a:r>
              <a:t>・箇条書き項目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1718A"/>
                </a:solidFill>
                <a:latin typeface="Outfit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8FC"/>
                </a:solidFill>
                <a:latin typeface="Noto Sans JP"/>
              </a:defRPr>
            </a:pPr>
            <a:r>
              <a:t>2カラム レイアウト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8288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8FC"/>
                </a:solidFill>
                <a:latin typeface="Noto Sans JP"/>
              </a:defRPr>
            </a:pPr>
            <a:r>
              <a:t>左カラム見出し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E"/>
                </a:solidFill>
                <a:latin typeface="Noto Sans JP"/>
              </a:defRPr>
            </a:pPr>
            <a:r>
              <a:t>左カラムの本文テキスト。ポイントや説明を記載します。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8FC"/>
                </a:solidFill>
                <a:latin typeface="Noto Sans JP"/>
              </a:defRPr>
            </a:pPr>
            <a:r>
              <a:t>右カラム見出し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E"/>
                </a:solidFill>
                <a:latin typeface="Noto Sans JP"/>
              </a:defRPr>
            </a:pPr>
            <a:r>
              <a:t>右カラムの本文テキスト。比較や対照の情報を記載します。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8FC"/>
                </a:solidFill>
                <a:latin typeface="Noto Sans JP"/>
              </a:defRPr>
            </a:pPr>
            <a:r>
              <a:t>コードサンプル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20240"/>
            <a:ext cx="127000" cy="127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1920240"/>
            <a:ext cx="127000" cy="127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1920240"/>
            <a:ext cx="127000" cy="127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875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71718A"/>
                </a:solidFill>
                <a:latin typeface="JetBrains Mono"/>
              </a:defRPr>
            </a:pPr>
            <a:r>
              <a:t>// Vibe Coding with AI</a:t>
            </a:r>
          </a:p>
          <a:p>
            <a:pPr>
              <a:spcAft>
                <a:spcPts val="200"/>
              </a:spcAft>
              <a:defRPr sz="1500">
                <a:solidFill>
                  <a:srgbClr val="F8F8FC"/>
                </a:solidFill>
                <a:latin typeface="JetBrains Mono"/>
              </a:defRPr>
            </a:pPr>
            <a:r>
              <a:t>const vibeSession = await ai.pair({</a:t>
            </a:r>
          </a:p>
          <a:p>
            <a:pPr>
              <a:spcAft>
                <a:spcPts val="200"/>
              </a:spcAft>
              <a:defRPr sz="1500">
                <a:solidFill>
                  <a:srgbClr val="06B6D4"/>
                </a:solidFill>
                <a:latin typeface="JetBrains Mono"/>
              </a:defRPr>
            </a:pPr>
            <a:r>
              <a:t>  model: "claude-opus-4-6",</a:t>
            </a:r>
          </a:p>
          <a:p>
            <a:pPr>
              <a:spcAft>
                <a:spcPts val="200"/>
              </a:spcAft>
              <a:defRPr sz="1500">
                <a:solidFill>
                  <a:srgbClr val="06B6D4"/>
                </a:solidFill>
                <a:latin typeface="JetBrains Mono"/>
              </a:defRPr>
            </a:pPr>
            <a:r>
              <a:t>  mode: "creative",</a:t>
            </a:r>
          </a:p>
          <a:p>
            <a:pPr>
              <a:spcAft>
                <a:spcPts val="200"/>
              </a:spcAft>
              <a:defRPr sz="1500">
                <a:solidFill>
                  <a:srgbClr val="EC4899"/>
                </a:solidFill>
                <a:latin typeface="JetBrains Mono"/>
              </a:defRPr>
            </a:pPr>
            <a:r>
              <a:t>  live: true,</a:t>
            </a:r>
          </a:p>
          <a:p>
            <a:pPr>
              <a:spcAft>
                <a:spcPts val="200"/>
              </a:spcAft>
              <a:defRPr sz="1500">
                <a:solidFill>
                  <a:srgbClr val="F8F8FC"/>
                </a:solidFill>
                <a:latin typeface="JetBrains Mono"/>
              </a:defRPr>
            </a:pPr>
            <a:r>
              <a:t>});</a:t>
            </a:r>
          </a:p>
          <a:p>
            <a:pPr>
              <a:spcAft>
                <a:spcPts val="200"/>
              </a:spcAft>
              <a:defRPr sz="1500">
                <a:solidFill>
                  <a:srgbClr val="F8F8FC"/>
                </a:solidFill>
                <a:latin typeface="JetBrains Mono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8B5CF6"/>
                </a:solidFill>
                <a:latin typeface="JetBrains Mono"/>
              </a:defRPr>
            </a:pPr>
            <a:r>
              <a:t>console.log("Let's vibe! 🎵");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B5"/>
                </a:solidFill>
                <a:latin typeface="Noto Sans JP"/>
              </a:defRPr>
            </a:pPr>
            <a:r>
              <a:t>コードの説明テキストをここに記載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8FC"/>
                </a:solidFill>
                <a:latin typeface="Noto Sans JP"/>
              </a:defRPr>
            </a:pPr>
            <a:r>
              <a:t>画像 + テキスト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8288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486400" cy="41148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3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71718A"/>
                </a:solidFill>
                <a:latin typeface="Noto Sans JP"/>
              </a:defRPr>
            </a:pPr>
            <a:r>
              <a:t>画像を挿入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8FC"/>
                </a:solidFill>
                <a:latin typeface="Noto Sans JP"/>
              </a:defRPr>
            </a:pPr>
            <a:r>
              <a:t>見出しテキスト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E"/>
                </a:solidFill>
                <a:latin typeface="Noto Sans JP"/>
              </a:defRPr>
            </a:pPr>
            <a:r>
              <a:t>画像の説明や補足テキストをここに入力します。図表やスクリーンショットと一緒に使うと効果的です。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457200"/>
            <a:ext cx="6400800" cy="6400800"/>
          </a:xfrm>
          <a:prstGeom prst="ellipse">
            <a:avLst/>
          </a:prstGeom>
          <a:solidFill>
            <a:srgbClr val="06B6D4">
              <a:lumMod val="15000"/>
              <a:lumOff val="85000"/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F8FC"/>
                </a:solidFill>
                <a:latin typeface="Outfit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1A1B5"/>
                </a:solidFill>
                <a:latin typeface="Noto Sans JP"/>
              </a:defRPr>
            </a:pPr>
            <a:r>
              <a:t>AIと共に、コードで遊べ。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8A"/>
                </a:solidFill>
                <a:latin typeface="Outfit"/>
              </a:defRPr>
            </a:pPr>
            <a:r>
              <a:t>Live Vibe Coding Club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7200"/>
            <a:ext cx="4063898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3898" y="6807200"/>
            <a:ext cx="4063898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7796" y="6807200"/>
            <a:ext cx="4063898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